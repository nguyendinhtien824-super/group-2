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F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28C28"/>
                </a:solidFill>
                <a:latin typeface="Aptos"/>
              </a:rPr>
              <a:t>FPT POLYTECHNIC  •  LAB211  •  NHÓM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070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800" b="1">
                <a:solidFill>
                  <a:srgbClr val="F8FAFC"/>
                </a:solidFill>
                <a:latin typeface="Aptos"/>
              </a:rPr>
              <a:t>FLASH SALE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40280"/>
            <a:ext cx="10607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4391D6"/>
                </a:solidFill>
                <a:latin typeface="Aptos"/>
              </a:rPr>
              <a:t>CONCURRENCY SIMULATOR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46120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B2BFCF"/>
                </a:solidFill>
                <a:latin typeface="Aptos"/>
              </a:rPr>
              <a:t>Race Condition  •  FIFO/Priority  •  4 Lock Mechanisms  •  TPS Benchmark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206240"/>
            <a:ext cx="6583680" cy="1234440"/>
          </a:xfrm>
          <a:prstGeom prst="roundRect">
            <a:avLst/>
          </a:prstGeom>
          <a:solidFill>
            <a:srgbClr val="18324E"/>
          </a:solidFill>
          <a:ln w="1524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352544"/>
            <a:ext cx="62179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28C28"/>
                </a:solidFill>
                <a:latin typeface="Aptos"/>
              </a:rPr>
              <a:t>CÂU HỎI NGHIÊN CỨU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00016"/>
            <a:ext cx="6217920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F8FAFC"/>
                </a:solidFill>
                <a:latin typeface="Aptos"/>
              </a:rPr>
              <a:t>Khóa nào loại bỏ âm kho nhưng vẫn giữ mức giảm throughput không quá 30%?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4572000"/>
            <a:ext cx="33832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0">
                <a:solidFill>
                  <a:srgbClr val="B2BFCF"/>
                </a:solidFill>
                <a:latin typeface="Aptos"/>
              </a:rPr>
              <a:t>Thành viên: bổ sung họ tên/MSSV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F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80467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F28C28"/>
                </a:solidFill>
                <a:latin typeface="Aptos"/>
              </a:rPr>
              <a:t>LAB211 • NHÓM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8813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F8FAFC"/>
                </a:solidFill>
                <a:latin typeface="Aptos"/>
              </a:rPr>
              <a:t>Vấn đề: bán vượt kho dưới tải đồng thời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47472"/>
            <a:ext cx="43891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B2BFCF"/>
                </a:solidFill>
                <a:latin typeface="Aptos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556248"/>
            <a:ext cx="11064240" cy="18288"/>
          </a:xfrm>
          <a:prstGeom prst="rect">
            <a:avLst/>
          </a:prstGeom>
          <a:solidFill>
            <a:srgbClr val="1832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3383280" cy="1325880"/>
          </a:xfrm>
          <a:prstGeom prst="roundRect">
            <a:avLst/>
          </a:prstGeom>
          <a:solidFill>
            <a:srgbClr val="18324E"/>
          </a:solidFill>
          <a:ln w="15240">
            <a:solidFill>
              <a:srgbClr val="D94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655063"/>
            <a:ext cx="30175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D94F4F"/>
                </a:solidFill>
                <a:latin typeface="Aptos"/>
              </a:rPr>
              <a:t>1. ĐỌC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002536"/>
            <a:ext cx="3017520" cy="7040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F8FAFC"/>
                </a:solidFill>
                <a:latin typeface="Aptos"/>
              </a:rPr>
              <a:t>Nhiều luồng cùng thấy stock =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08760"/>
            <a:ext cx="3383280" cy="1325880"/>
          </a:xfrm>
          <a:prstGeom prst="roundRect">
            <a:avLst/>
          </a:prstGeom>
          <a:solidFill>
            <a:srgbClr val="18324E"/>
          </a:solidFill>
          <a:ln w="1524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655063"/>
            <a:ext cx="30175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28C28"/>
                </a:solidFill>
                <a:latin typeface="Aptos"/>
              </a:rPr>
              <a:t>2. QUYẾT ĐỊNH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002536"/>
            <a:ext cx="3017520" cy="7040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F8FAFC"/>
                </a:solidFill>
                <a:latin typeface="Aptos"/>
              </a:rPr>
              <a:t>Mọi luồng đều nghĩ có thể bán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508760"/>
            <a:ext cx="3383280" cy="1325880"/>
          </a:xfrm>
          <a:prstGeom prst="roundRect">
            <a:avLst/>
          </a:prstGeom>
          <a:solidFill>
            <a:srgbClr val="18324E"/>
          </a:solidFill>
          <a:ln w="15240">
            <a:solidFill>
              <a:srgbClr val="D94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655063"/>
            <a:ext cx="30175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D94F4F"/>
                </a:solidFill>
                <a:latin typeface="Aptos"/>
              </a:rPr>
              <a:t>3. GHI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002536"/>
            <a:ext cx="3017520" cy="7040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F8FAFC"/>
                </a:solidFill>
                <a:latin typeface="Aptos"/>
              </a:rPr>
              <a:t>soldQty vượt limited, stock âm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474720"/>
            <a:ext cx="10241280" cy="201168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F8FAFC"/>
                </a:solidFill>
                <a:latin typeface="Aptos"/>
              </a:defRPr>
            </a:pPr>
            <a:r>
              <a:t>•  Flash Sale dồn hàng nghìn request vào cửa sổ 1–2 giờ.</a:t>
            </a:r>
          </a:p>
          <a:p>
            <a:pPr>
              <a:spcAft>
                <a:spcPts val="1000"/>
              </a:spcAft>
              <a:defRPr sz="1900">
                <a:solidFill>
                  <a:srgbClr val="F8FAFC"/>
                </a:solidFill>
                <a:latin typeface="Aptos"/>
              </a:defRPr>
            </a:pPr>
            <a:r>
              <a:t>•  Đúng nghiệp vụ quan trọng hơn TPS ảo từ dữ liệu sai.</a:t>
            </a:r>
          </a:p>
          <a:p>
            <a:pPr>
              <a:spcAft>
                <a:spcPts val="1000"/>
              </a:spcAft>
              <a:defRPr sz="1900">
                <a:solidFill>
                  <a:srgbClr val="F8FAFC"/>
                </a:solidFill>
                <a:latin typeface="Aptos"/>
              </a:defRPr>
            </a:pPr>
            <a:r>
              <a:t>•  Cần đo cùng workload trên bốn cơ chế và công bố raw run.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F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80467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F28C28"/>
                </a:solidFill>
                <a:latin typeface="Aptos"/>
              </a:rPr>
              <a:t>LAB211 • NHÓM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8813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F8FAFC"/>
                </a:solidFill>
                <a:latin typeface="Aptos"/>
              </a:rPr>
              <a:t>Phạm vi yêu cầu đã triển khai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47472"/>
            <a:ext cx="43891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B2BFCF"/>
                </a:solidFill>
                <a:latin typeface="Aptos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556248"/>
            <a:ext cx="11064240" cy="18288"/>
          </a:xfrm>
          <a:prstGeom prst="rect">
            <a:avLst/>
          </a:prstGeom>
          <a:solidFill>
            <a:srgbClr val="1832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2331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4391D6"/>
                </a:solidFill>
                <a:latin typeface="Aptos"/>
              </a:rPr>
              <a:t>12.527+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20240"/>
            <a:ext cx="2331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B2BFCF"/>
                </a:solidFill>
                <a:latin typeface="Aptos"/>
              </a:rPr>
              <a:t>dòng CSV nền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1417320"/>
            <a:ext cx="2331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28C28"/>
                </a:solidFill>
                <a:latin typeface="Aptos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920240"/>
            <a:ext cx="2331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B2BFCF"/>
                </a:solidFill>
                <a:latin typeface="Aptos"/>
              </a:rPr>
              <a:t>cơ chế đồng bộ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417320"/>
            <a:ext cx="2331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2A9D8F"/>
                </a:solidFill>
                <a:latin typeface="Aptos"/>
              </a:rPr>
              <a:t>1000×4×3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920240"/>
            <a:ext cx="2331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B2BFCF"/>
                </a:solidFill>
                <a:latin typeface="Aptos"/>
              </a:rPr>
              <a:t>mỗi kịch bản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59" y="1417320"/>
            <a:ext cx="2331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D94F4F"/>
                </a:solidFill>
                <a:latin typeface="Aptos"/>
              </a:rPr>
              <a:t>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59" y="1920240"/>
            <a:ext cx="2331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B2BFCF"/>
                </a:solidFill>
                <a:latin typeface="Aptos"/>
              </a:rPr>
              <a:t>ngoại lệ nghiệp vụ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971800"/>
            <a:ext cx="10607040" cy="246888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  <a:latin typeface="Aptos"/>
              </a:defRPr>
            </a:pPr>
            <a:r>
              <a:t>•  Java 17 • OOP • MVC nhiều lớp • CRUD CSV generic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  <a:latin typeface="Aptos"/>
              </a:defRPr>
            </a:pPr>
            <a:r>
              <a:t>•  Event 1–2 giờ • giảm 30–70% • tối đa 2 sản phẩm/customer/product/event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  <a:latin typeface="Aptos"/>
              </a:defRPr>
            </a:pPr>
            <a:r>
              <a:t>•  FIFO theo sequence • ưu tiên VIP/PREMIUM nhưng không bỏ qua stock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  <a:latin typeface="Aptos"/>
              </a:defRPr>
            </a:pPr>
            <a:r>
              <a:t>•  Biểu đồ TPS • âm kho • retry • kết luận đạt/chưa đạt trung thực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F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80467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F28C28"/>
                </a:solidFill>
                <a:latin typeface="Aptos"/>
              </a:rPr>
              <a:t>LAB211 • NHÓM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8813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F8FAFC"/>
                </a:solidFill>
                <a:latin typeface="Aptos"/>
              </a:rPr>
              <a:t>Use Case: bốn vai trò tách quyền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47472"/>
            <a:ext cx="43891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B2BFCF"/>
                </a:solidFill>
                <a:latin typeface="Aptos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556248"/>
            <a:ext cx="11064240" cy="18288"/>
          </a:xfrm>
          <a:prstGeom prst="rect">
            <a:avLst/>
          </a:prstGeom>
          <a:solidFill>
            <a:srgbClr val="1832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use_cas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84408"/>
            <a:ext cx="6949440" cy="417498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909560" y="1417320"/>
            <a:ext cx="3474720" cy="914400"/>
          </a:xfrm>
          <a:prstGeom prst="roundRect">
            <a:avLst/>
          </a:prstGeom>
          <a:solidFill>
            <a:srgbClr val="18324E"/>
          </a:solidFill>
          <a:ln w="15240">
            <a:solidFill>
              <a:srgbClr val="439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92440" y="1563624"/>
            <a:ext cx="31089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4391D6"/>
                </a:solidFill>
                <a:latin typeface="Aptos"/>
              </a:rPr>
              <a:t>GUEST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1911095"/>
            <a:ext cx="3108960" cy="2926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F8FAFC"/>
                </a:solidFill>
                <a:latin typeface="Aptos"/>
              </a:rPr>
              <a:t>Xem, đăng ký, đăng nhập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2514600"/>
            <a:ext cx="3474720" cy="914400"/>
          </a:xfrm>
          <a:prstGeom prst="roundRect">
            <a:avLst/>
          </a:prstGeom>
          <a:solidFill>
            <a:srgbClr val="18324E"/>
          </a:solidFill>
          <a:ln w="1524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2440" y="2660904"/>
            <a:ext cx="31089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A9D8F"/>
                </a:solidFill>
                <a:latin typeface="Aptos"/>
              </a:rPr>
              <a:t>CUSTOMER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3008376"/>
            <a:ext cx="3108960" cy="2926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F8FAFC"/>
                </a:solidFill>
                <a:latin typeface="Aptos"/>
              </a:rPr>
              <a:t>Mua, voucher, theo dõi/hủy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9560" y="3611880"/>
            <a:ext cx="3474720" cy="914400"/>
          </a:xfrm>
          <a:prstGeom prst="roundRect">
            <a:avLst/>
          </a:prstGeom>
          <a:solidFill>
            <a:srgbClr val="18324E"/>
          </a:solidFill>
          <a:ln w="1524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3758184"/>
            <a:ext cx="31089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28C28"/>
                </a:solidFill>
                <a:latin typeface="Aptos"/>
              </a:rPr>
              <a:t>ADMIN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4105656"/>
            <a:ext cx="3108960" cy="2926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F8FAFC"/>
                </a:solidFill>
                <a:latin typeface="Aptos"/>
              </a:rPr>
              <a:t>CRUD, duyệt/hủy, báo cáo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09560" y="4709160"/>
            <a:ext cx="3474720" cy="914400"/>
          </a:xfrm>
          <a:prstGeom prst="roundRect">
            <a:avLst/>
          </a:prstGeom>
          <a:solidFill>
            <a:srgbClr val="18324E"/>
          </a:solidFill>
          <a:ln w="15240">
            <a:solidFill>
              <a:srgbClr val="439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4855464"/>
            <a:ext cx="31089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4391D6"/>
                </a:solidFill>
                <a:latin typeface="Aptos"/>
              </a:rPr>
              <a:t>RESEARCHER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5202936"/>
            <a:ext cx="3108960" cy="2926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F8FAFC"/>
                </a:solidFill>
                <a:latin typeface="Aptos"/>
              </a:rPr>
              <a:t>Benchmark và export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F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80467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F28C28"/>
                </a:solidFill>
                <a:latin typeface="Aptos"/>
              </a:rPr>
              <a:t>LAB211 • NHÓM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8813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F8FAFC"/>
                </a:solidFill>
                <a:latin typeface="Aptos"/>
              </a:rPr>
              <a:t>Kiến trúc MVC có ranh giới rõ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47472"/>
            <a:ext cx="43891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B2BFCF"/>
                </a:solidFill>
                <a:latin typeface="Aptos"/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556248"/>
            <a:ext cx="11064240" cy="18288"/>
          </a:xfrm>
          <a:prstGeom prst="rect">
            <a:avLst/>
          </a:prstGeom>
          <a:solidFill>
            <a:srgbClr val="1832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1965960" cy="1920240"/>
          </a:xfrm>
          <a:prstGeom prst="roundRect">
            <a:avLst/>
          </a:prstGeom>
          <a:solidFill>
            <a:srgbClr val="18324E"/>
          </a:solidFill>
          <a:ln w="15240">
            <a:solidFill>
              <a:srgbClr val="439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75104"/>
            <a:ext cx="1600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4391D6"/>
                </a:solidFill>
                <a:latin typeface="Aptos"/>
              </a:rPr>
              <a:t>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322576"/>
            <a:ext cx="1600200" cy="1298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F8FAFC"/>
                </a:solidFill>
                <a:latin typeface="Aptos"/>
              </a:rPr>
              <a:t>Console UI theo vai trò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44952" y="1828800"/>
            <a:ext cx="1965960" cy="1920240"/>
          </a:xfrm>
          <a:prstGeom prst="roundRect">
            <a:avLst/>
          </a:prstGeom>
          <a:solidFill>
            <a:srgbClr val="18324E"/>
          </a:solidFill>
          <a:ln w="1524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27832" y="1975104"/>
            <a:ext cx="1600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A9D8F"/>
                </a:solidFill>
                <a:latin typeface="Aptos"/>
              </a:rPr>
              <a:t>CONTROLLER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27832" y="2322576"/>
            <a:ext cx="1600200" cy="1298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F8FAFC"/>
                </a:solidFill>
                <a:latin typeface="Aptos"/>
              </a:rPr>
              <a:t>Điều phối use case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12664" y="1828800"/>
            <a:ext cx="1965960" cy="1920240"/>
          </a:xfrm>
          <a:prstGeom prst="roundRect">
            <a:avLst/>
          </a:prstGeom>
          <a:solidFill>
            <a:srgbClr val="18324E"/>
          </a:solidFill>
          <a:ln w="1524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95544" y="1975104"/>
            <a:ext cx="1600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28C28"/>
                </a:solidFill>
                <a:latin typeface="Aptos"/>
              </a:rPr>
              <a:t>SERVICE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95544" y="2322576"/>
            <a:ext cx="1600200" cy="1298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F8FAFC"/>
                </a:solidFill>
                <a:latin typeface="Aptos"/>
              </a:rPr>
              <a:t>Invariant • FIFO • lock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0375" y="1828800"/>
            <a:ext cx="1965960" cy="1920240"/>
          </a:xfrm>
          <a:prstGeom prst="roundRect">
            <a:avLst/>
          </a:prstGeom>
          <a:solidFill>
            <a:srgbClr val="18324E"/>
          </a:solidFill>
          <a:ln w="15240">
            <a:solidFill>
              <a:srgbClr val="439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63255" y="1975104"/>
            <a:ext cx="1600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4391D6"/>
                </a:solidFill>
                <a:latin typeface="Aptos"/>
              </a:rPr>
              <a:t>REPOSITORY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63255" y="2322576"/>
            <a:ext cx="1600200" cy="1298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F8FAFC"/>
                </a:solidFill>
                <a:latin typeface="Aptos"/>
              </a:rPr>
              <a:t>CSV codec • atomic I/O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48088" y="1828800"/>
            <a:ext cx="1965960" cy="1920240"/>
          </a:xfrm>
          <a:prstGeom prst="roundRect">
            <a:avLst/>
          </a:prstGeom>
          <a:solidFill>
            <a:srgbClr val="18324E"/>
          </a:solidFill>
          <a:ln w="1524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30967" y="1975104"/>
            <a:ext cx="1600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A9D8F"/>
                </a:solidFill>
                <a:latin typeface="Aptos"/>
              </a:rPr>
              <a:t>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30967" y="2322576"/>
            <a:ext cx="1600200" cy="1298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F8FAFC"/>
                </a:solidFill>
                <a:latin typeface="Aptos"/>
              </a:rPr>
              <a:t>Entity • enum • version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8FAFC"/>
                </a:solidFill>
                <a:latin typeface="Aptos"/>
              </a:rPr>
              <a:t>Dependency đi xuống; View không truy cập Repository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F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80467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F28C28"/>
                </a:solidFill>
                <a:latin typeface="Aptos"/>
              </a:rPr>
              <a:t>LAB211 • NHÓM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8813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F8FAFC"/>
                </a:solidFill>
                <a:latin typeface="Aptos"/>
              </a:rPr>
              <a:t>Domain model và versioning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47472"/>
            <a:ext cx="43891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B2BFCF"/>
                </a:solidFill>
                <a:latin typeface="Aptos"/>
              </a:rP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556248"/>
            <a:ext cx="11064240" cy="18288"/>
          </a:xfrm>
          <a:prstGeom prst="rect">
            <a:avLst/>
          </a:prstGeom>
          <a:solidFill>
            <a:srgbClr val="1832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lass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8463" y="1261872"/>
            <a:ext cx="7104593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F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80467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F28C28"/>
                </a:solidFill>
                <a:latin typeface="Aptos"/>
              </a:rPr>
              <a:t>LAB211 • NHÓM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8813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F8FAFC"/>
                </a:solidFill>
                <a:latin typeface="Aptos"/>
              </a:rPr>
              <a:t>Data Generator: đủ lớn, hợp lệ, đọc lại được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47472"/>
            <a:ext cx="43891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B2BFCF"/>
                </a:solidFill>
                <a:latin typeface="Aptos"/>
              </a:rP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556248"/>
            <a:ext cx="11064240" cy="18288"/>
          </a:xfrm>
          <a:prstGeom prst="rect">
            <a:avLst/>
          </a:prstGeom>
          <a:solidFill>
            <a:srgbClr val="1832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ata_generator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484" y="1280160"/>
            <a:ext cx="5683910" cy="5074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766560" y="1508760"/>
            <a:ext cx="4800600" cy="438912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t>•  5.000 products • 2.000 customers</a:t>
            </a:r>
          </a:p>
          <a:p>
            <a:pPr>
              <a:spcAft>
                <a:spcPts val="10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t>•  10 events • 500 flash items</a:t>
            </a:r>
          </a:p>
          <a:p>
            <a:pPr>
              <a:spcAft>
                <a:spcPts val="10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t>•  2.500 orders • 2.500 details • vouchers</a:t>
            </a:r>
          </a:p>
          <a:p>
            <a:pPr>
              <a:spcAft>
                <a:spcPts val="10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t>•  Argon2id được CSV quote/escape đúng</a:t>
            </a:r>
          </a:p>
          <a:p>
            <a:pPr>
              <a:spcAft>
                <a:spcPts val="10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t>•  Generate → repository round-trip → service boot</a:t>
            </a:r>
          </a:p>
          <a:p>
            <a:pPr>
              <a:spcAft>
                <a:spcPts val="10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t>•  Atomic temp + move; UTF-8; đường dẫn tương đối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F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80467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F28C28"/>
                </a:solidFill>
                <a:latin typeface="Aptos"/>
              </a:rPr>
              <a:t>LAB211 • NHÓM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8813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F8FAFC"/>
                </a:solidFill>
                <a:latin typeface="Aptos"/>
              </a:rPr>
              <a:t>Order flow: kiểm tra lại trong vùng atomic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47472"/>
            <a:ext cx="43891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B2BFCF"/>
                </a:solidFill>
                <a:latin typeface="Aptos"/>
              </a:rPr>
              <a:t>08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556248"/>
            <a:ext cx="11064240" cy="18288"/>
          </a:xfrm>
          <a:prstGeom prst="rect">
            <a:avLst/>
          </a:prstGeom>
          <a:solidFill>
            <a:srgbClr val="1832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order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631" y="1234440"/>
            <a:ext cx="5964576" cy="5212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1508760"/>
            <a:ext cx="3886200" cy="438912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1000"/>
              </a:spcAft>
              <a:defRPr sz="1550">
                <a:solidFill>
                  <a:srgbClr val="F8FAFC"/>
                </a:solidFill>
                <a:latin typeface="Aptos"/>
              </a:defRPr>
            </a:pPr>
            <a:r>
              <a:t>•  Queue sequence + priority tier</a:t>
            </a:r>
          </a:p>
          <a:p>
            <a:pPr>
              <a:spcAft>
                <a:spcPts val="1000"/>
              </a:spcAft>
              <a:defRPr sz="1550">
                <a:solidFill>
                  <a:srgbClr val="F8FAFC"/>
                </a:solidFill>
                <a:latin typeface="Aptos"/>
              </a:defRPr>
            </a:pPr>
            <a:r>
              <a:t>•  Re-read customer, item, event</a:t>
            </a:r>
          </a:p>
          <a:p>
            <a:pPr>
              <a:spcAft>
                <a:spcPts val="1000"/>
              </a:spcAft>
              <a:defRPr sz="1550">
                <a:solidFill>
                  <a:srgbClr val="F8FAFC"/>
                </a:solidFill>
                <a:latin typeface="Aptos"/>
              </a:defRPr>
            </a:pPr>
            <a:r>
              <a:t>•  Fail-fast trạng thái/thời gian</a:t>
            </a:r>
          </a:p>
          <a:p>
            <a:pPr>
              <a:spcAft>
                <a:spcPts val="1000"/>
              </a:spcAft>
              <a:defRPr sz="1550">
                <a:solidFill>
                  <a:srgbClr val="F8FAFC"/>
                </a:solidFill>
                <a:latin typeface="Aptos"/>
              </a:defRPr>
            </a:pPr>
            <a:r>
              <a:t>•  Giới hạn mua nằm trong critical flow</a:t>
            </a:r>
          </a:p>
          <a:p>
            <a:pPr>
              <a:spcAft>
                <a:spcPts val="1000"/>
              </a:spcAft>
              <a:defRPr sz="1550">
                <a:solidFill>
                  <a:srgbClr val="F8FAFC"/>
                </a:solidFill>
                <a:latin typeface="Aptos"/>
              </a:defRPr>
            </a:pPr>
            <a:r>
              <a:t>•  Voucher/wallet/stock rollback khi lỗi</a:t>
            </a:r>
          </a:p>
          <a:p>
            <a:pPr>
              <a:spcAft>
                <a:spcPts val="1000"/>
              </a:spcAft>
              <a:defRPr sz="1550">
                <a:solidFill>
                  <a:srgbClr val="F8FAFC"/>
                </a:solidFill>
                <a:latin typeface="Aptos"/>
              </a:defRPr>
            </a:pPr>
            <a:r>
              <a:t>•  VIP không bao giờ bypass stock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F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80467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F28C28"/>
                </a:solidFill>
                <a:latin typeface="Aptos"/>
              </a:rPr>
              <a:t>LAB211 • NHÓM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8813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F8FAFC"/>
                </a:solidFill>
                <a:latin typeface="Aptos"/>
              </a:rPr>
              <a:t>Race Condition: cùng start, khác chiến lược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47472"/>
            <a:ext cx="43891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B2BFCF"/>
                </a:solidFill>
                <a:latin typeface="Aptos"/>
              </a:rPr>
              <a:t>09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556248"/>
            <a:ext cx="11064240" cy="18288"/>
          </a:xfrm>
          <a:prstGeom prst="rect">
            <a:avLst/>
          </a:prstGeom>
          <a:solidFill>
            <a:srgbClr val="1832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ace_condition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8463" y="1261872"/>
            <a:ext cx="4001192" cy="5166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52360" y="1691640"/>
            <a:ext cx="4114800" cy="356616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t>•  ready/start/done CountDownLatch</a:t>
            </a:r>
          </a:p>
          <a:p>
            <a:pPr>
              <a:spcAft>
                <a:spcPts val="10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t>•  No Lock cố ý stale read/write</a:t>
            </a:r>
          </a:p>
          <a:p>
            <a:pPr>
              <a:spcAft>
                <a:spcPts val="10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t>•  FileLock dùng sidecar OS lock</a:t>
            </a:r>
          </a:p>
          <a:p>
            <a:pPr>
              <a:spcAft>
                <a:spcPts val="10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t>•  synchronized dùng JVM monitor</a:t>
            </a:r>
          </a:p>
          <a:p>
            <a:pPr>
              <a:spcAft>
                <a:spcPts val="1000"/>
              </a:spcAft>
              <a:defRPr sz="1600">
                <a:solidFill>
                  <a:srgbClr val="F8FAFC"/>
                </a:solidFill>
                <a:latin typeface="Aptos"/>
              </a:defRPr>
            </a:pPr>
            <a:r>
              <a:t>•  Optimistic compare version, max 3 retry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F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80467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F28C28"/>
                </a:solidFill>
                <a:latin typeface="Aptos"/>
              </a:rPr>
              <a:t>LAB211 • NHÓM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8813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F8FAFC"/>
                </a:solidFill>
                <a:latin typeface="Aptos"/>
              </a:rPr>
              <a:t>Bốn cơ chế — bốn đánh đổi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47472"/>
            <a:ext cx="43891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B2BFCF"/>
                </a:solidFill>
                <a:latin typeface="Aptos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556248"/>
            <a:ext cx="11064240" cy="18288"/>
          </a:xfrm>
          <a:prstGeom prst="rect">
            <a:avLst/>
          </a:prstGeom>
          <a:solidFill>
            <a:srgbClr val="1832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508760"/>
          <a:ext cx="1083564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8910"/>
                <a:gridCol w="2708910"/>
                <a:gridCol w="2708910"/>
                <a:gridCol w="2708910"/>
              </a:tblGrid>
              <a:tr h="649224">
                <a:tc>
                  <a:txBody>
                    <a:bodyPr anchor="ctr"/>
                    <a:lstStyle/>
                    <a:p>
                      <a:pPr algn="ctr"/>
                      <a:r>
                        <a:rPr sz="1300" b="1">
                          <a:solidFill>
                            <a:srgbClr val="0E1F35"/>
                          </a:solidFill>
                          <a:latin typeface="Aptos"/>
                        </a:rPr>
                        <a:t>Cơ chế</a:t>
                      </a:r>
                    </a:p>
                  </a:txBody>
                  <a:tcPr marL="54864" marR="54864" marT="27432" marB="27432">
                    <a:solidFill>
                      <a:srgbClr val="F28C2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300" b="1">
                          <a:solidFill>
                            <a:srgbClr val="0E1F35"/>
                          </a:solidFill>
                          <a:latin typeface="Aptos"/>
                        </a:rPr>
                        <a:t>Phạm vi</a:t>
                      </a:r>
                    </a:p>
                  </a:txBody>
                  <a:tcPr marL="54864" marR="54864" marT="27432" marB="27432">
                    <a:solidFill>
                      <a:srgbClr val="F28C2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300" b="1">
                          <a:solidFill>
                            <a:srgbClr val="0E1F35"/>
                          </a:solidFill>
                          <a:latin typeface="Aptos"/>
                        </a:rPr>
                        <a:t>Ưu điểm</a:t>
                      </a:r>
                    </a:p>
                  </a:txBody>
                  <a:tcPr marL="54864" marR="54864" marT="27432" marB="27432">
                    <a:solidFill>
                      <a:srgbClr val="F28C2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300" b="1">
                          <a:solidFill>
                            <a:srgbClr val="0E1F35"/>
                          </a:solidFill>
                          <a:latin typeface="Aptos"/>
                        </a:rPr>
                        <a:t>Đánh đổi</a:t>
                      </a:r>
                    </a:p>
                  </a:txBody>
                  <a:tcPr marL="54864" marR="54864" marT="27432" marB="27432">
                    <a:solidFill>
                      <a:srgbClr val="F28C28"/>
                    </a:solidFill>
                  </a:tcPr>
                </a:tc>
              </a:tr>
              <a:tr h="649224">
                <a:tc>
                  <a:txBody>
                    <a:bodyPr anchor="ctr"/>
                    <a:lstStyle/>
                    <a:p>
                      <a:pPr algn="ctr"/>
                      <a:r>
                        <a:rPr sz="1300" b="0">
                          <a:solidFill>
                            <a:srgbClr val="F8FAFC"/>
                          </a:solidFill>
                          <a:latin typeface="Aptos"/>
                        </a:rPr>
                        <a:t>NO_LOCK</a:t>
                      </a:r>
                    </a:p>
                  </a:txBody>
                  <a:tcPr marL="54864" marR="54864" marT="27432" marB="27432">
                    <a:solidFill>
                      <a:srgbClr val="18324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300" b="0">
                          <a:solidFill>
                            <a:srgbClr val="F8FAFC"/>
                          </a:solidFill>
                          <a:latin typeface="Aptos"/>
                        </a:rPr>
                        <a:t>Không bảo vệ</a:t>
                      </a:r>
                    </a:p>
                  </a:txBody>
                  <a:tcPr marL="54864" marR="54864" marT="27432" marB="27432">
                    <a:solidFill>
                      <a:srgbClr val="18324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300" b="0">
                          <a:solidFill>
                            <a:srgbClr val="F8FAFC"/>
                          </a:solidFill>
                          <a:latin typeface="Aptos"/>
                        </a:rPr>
                        <a:t>Nhanh</a:t>
                      </a:r>
                    </a:p>
                  </a:txBody>
                  <a:tcPr marL="54864" marR="54864" marT="27432" marB="27432">
                    <a:solidFill>
                      <a:srgbClr val="18324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300" b="0">
                          <a:solidFill>
                            <a:srgbClr val="F8FAFC"/>
                          </a:solidFill>
                          <a:latin typeface="Aptos"/>
                        </a:rPr>
                        <a:t>Âm kho/lost update</a:t>
                      </a:r>
                    </a:p>
                  </a:txBody>
                  <a:tcPr marL="54864" marR="54864" marT="27432" marB="27432">
                    <a:solidFill>
                      <a:srgbClr val="18324E"/>
                    </a:solidFill>
                  </a:tcPr>
                </a:tc>
              </a:tr>
              <a:tr h="649224">
                <a:tc>
                  <a:txBody>
                    <a:bodyPr anchor="ctr"/>
                    <a:lstStyle/>
                    <a:p>
                      <a:pPr algn="ctr"/>
                      <a:r>
                        <a:rPr sz="1300" b="0">
                          <a:solidFill>
                            <a:srgbClr val="F8FAFC"/>
                          </a:solidFill>
                          <a:latin typeface="Aptos"/>
                        </a:rPr>
                        <a:t>FileLock</a:t>
                      </a:r>
                    </a:p>
                  </a:txBody>
                  <a:tcPr marL="54864" marR="54864" marT="27432" marB="27432">
                    <a:solidFill>
                      <a:srgbClr val="1F3D5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300" b="0">
                          <a:solidFill>
                            <a:srgbClr val="F8FAFC"/>
                          </a:solidFill>
                          <a:latin typeface="Aptos"/>
                        </a:rPr>
                        <a:t>Nhiều process</a:t>
                      </a:r>
                    </a:p>
                  </a:txBody>
                  <a:tcPr marL="54864" marR="54864" marT="27432" marB="27432">
                    <a:solidFill>
                      <a:srgbClr val="1F3D5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300" b="0">
                          <a:solidFill>
                            <a:srgbClr val="F8FAFC"/>
                          </a:solidFill>
                          <a:latin typeface="Aptos"/>
                        </a:rPr>
                        <a:t>An toàn cấp OS</a:t>
                      </a:r>
                    </a:p>
                  </a:txBody>
                  <a:tcPr marL="54864" marR="54864" marT="27432" marB="27432">
                    <a:solidFill>
                      <a:srgbClr val="1F3D5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300" b="0">
                          <a:solidFill>
                            <a:srgbClr val="F8FAFC"/>
                          </a:solidFill>
                          <a:latin typeface="Aptos"/>
                        </a:rPr>
                        <a:t>I/O + lock cost</a:t>
                      </a:r>
                    </a:p>
                  </a:txBody>
                  <a:tcPr marL="54864" marR="54864" marT="27432" marB="27432">
                    <a:solidFill>
                      <a:srgbClr val="1F3D5B"/>
                    </a:solidFill>
                  </a:tcPr>
                </a:tc>
              </a:tr>
              <a:tr h="649224">
                <a:tc>
                  <a:txBody>
                    <a:bodyPr anchor="ctr"/>
                    <a:lstStyle/>
                    <a:p>
                      <a:pPr algn="ctr"/>
                      <a:r>
                        <a:rPr sz="1300" b="0">
                          <a:solidFill>
                            <a:srgbClr val="F8FAFC"/>
                          </a:solidFill>
                          <a:latin typeface="Aptos"/>
                        </a:rPr>
                        <a:t>synchronized</a:t>
                      </a:r>
                    </a:p>
                  </a:txBody>
                  <a:tcPr marL="54864" marR="54864" marT="27432" marB="27432">
                    <a:solidFill>
                      <a:srgbClr val="18324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300" b="0">
                          <a:solidFill>
                            <a:srgbClr val="F8FAFC"/>
                          </a:solidFill>
                          <a:latin typeface="Aptos"/>
                        </a:rPr>
                        <a:t>Một JVM</a:t>
                      </a:r>
                    </a:p>
                  </a:txBody>
                  <a:tcPr marL="54864" marR="54864" marT="27432" marB="27432">
                    <a:solidFill>
                      <a:srgbClr val="18324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300" b="0">
                          <a:solidFill>
                            <a:srgbClr val="F8FAFC"/>
                          </a:solidFill>
                          <a:latin typeface="Aptos"/>
                        </a:rPr>
                        <a:t>Đơn giản</a:t>
                      </a:r>
                    </a:p>
                  </a:txBody>
                  <a:tcPr marL="54864" marR="54864" marT="27432" marB="27432">
                    <a:solidFill>
                      <a:srgbClr val="18324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300" b="0">
                          <a:solidFill>
                            <a:srgbClr val="F8FAFC"/>
                          </a:solidFill>
                          <a:latin typeface="Aptos"/>
                        </a:rPr>
                        <a:t>Không cross-process</a:t>
                      </a:r>
                    </a:p>
                  </a:txBody>
                  <a:tcPr marL="54864" marR="54864" marT="27432" marB="27432">
                    <a:solidFill>
                      <a:srgbClr val="18324E"/>
                    </a:solidFill>
                  </a:tcPr>
                </a:tc>
              </a:tr>
              <a:tr h="649224">
                <a:tc>
                  <a:txBody>
                    <a:bodyPr anchor="ctr"/>
                    <a:lstStyle/>
                    <a:p>
                      <a:pPr algn="ctr"/>
                      <a:r>
                        <a:rPr sz="1300" b="0">
                          <a:solidFill>
                            <a:srgbClr val="F8FAFC"/>
                          </a:solidFill>
                          <a:latin typeface="Aptos"/>
                        </a:rPr>
                        <a:t>Optimistic</a:t>
                      </a:r>
                    </a:p>
                  </a:txBody>
                  <a:tcPr marL="54864" marR="54864" marT="27432" marB="27432">
                    <a:solidFill>
                      <a:srgbClr val="1F3D5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300" b="0">
                          <a:solidFill>
                            <a:srgbClr val="F8FAFC"/>
                          </a:solidFill>
                          <a:latin typeface="Aptos"/>
                        </a:rPr>
                        <a:t>Version + retry</a:t>
                      </a:r>
                    </a:p>
                  </a:txBody>
                  <a:tcPr marL="54864" marR="54864" marT="27432" marB="27432">
                    <a:solidFill>
                      <a:srgbClr val="1F3D5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300" b="0">
                          <a:solidFill>
                            <a:srgbClr val="F8FAFC"/>
                          </a:solidFill>
                          <a:latin typeface="Aptos"/>
                        </a:rPr>
                        <a:t>Không block</a:t>
                      </a:r>
                    </a:p>
                  </a:txBody>
                  <a:tcPr marL="54864" marR="54864" marT="27432" marB="27432">
                    <a:solidFill>
                      <a:srgbClr val="1F3D5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300" b="0">
                          <a:solidFill>
                            <a:srgbClr val="F8FAFC"/>
                          </a:solidFill>
                          <a:latin typeface="Aptos"/>
                        </a:rPr>
                        <a:t>Cạn retry khi contention</a:t>
                      </a:r>
                    </a:p>
                  </a:txBody>
                  <a:tcPr marL="54864" marR="54864" marT="27432" marB="27432">
                    <a:solidFill>
                      <a:srgbClr val="1F3D5B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914400" y="5074920"/>
            <a:ext cx="2971800" cy="868680"/>
          </a:xfrm>
          <a:prstGeom prst="roundRect">
            <a:avLst/>
          </a:prstGeom>
          <a:solidFill>
            <a:srgbClr val="18324E"/>
          </a:solidFill>
          <a:ln w="15240">
            <a:solidFill>
              <a:srgbClr val="439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221224"/>
            <a:ext cx="26060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4391D6"/>
                </a:solidFill>
                <a:latin typeface="Aptos"/>
              </a:rPr>
              <a:t>TPS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568696"/>
            <a:ext cx="2606040" cy="246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F8FAFC"/>
                </a:solidFill>
                <a:latin typeface="Aptos"/>
              </a:rPr>
              <a:t>successCount / elapsedSeconds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5074920"/>
            <a:ext cx="2971800" cy="868680"/>
          </a:xfrm>
          <a:prstGeom prst="roundRect">
            <a:avLst/>
          </a:prstGeom>
          <a:solidFill>
            <a:srgbClr val="18324E"/>
          </a:solidFill>
          <a:ln w="1524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5221224"/>
            <a:ext cx="26060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A9D8F"/>
                </a:solidFill>
                <a:latin typeface="Aptos"/>
              </a:rPr>
              <a:t>AN TOÀN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5568696"/>
            <a:ext cx="2606040" cy="246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F8FAFC"/>
                </a:solidFill>
                <a:latin typeface="Aptos"/>
              </a:rPr>
              <a:t>negativeStock = 0 + consistent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5074920"/>
            <a:ext cx="2971800" cy="868680"/>
          </a:xfrm>
          <a:prstGeom prst="roundRect">
            <a:avLst/>
          </a:prstGeom>
          <a:solidFill>
            <a:srgbClr val="18324E"/>
          </a:solidFill>
          <a:ln w="1524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5221224"/>
            <a:ext cx="26060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28C28"/>
                </a:solidFill>
                <a:latin typeface="Aptos"/>
              </a:rPr>
              <a:t>MỤC TIÊU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5568696"/>
            <a:ext cx="2606040" cy="246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F8FAFC"/>
                </a:solidFill>
                <a:latin typeface="Aptos"/>
              </a:rPr>
              <a:t>paired drop ≥ -30%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F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80467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F28C28"/>
                </a:solidFill>
                <a:latin typeface="Aptos"/>
              </a:rPr>
              <a:t>LAB211 • NHÓM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8813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F8FAFC"/>
                </a:solidFill>
                <a:latin typeface="Aptos"/>
              </a:rPr>
              <a:t>Simulator và phương pháp thực nghiệm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47472"/>
            <a:ext cx="43891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B2BFCF"/>
                </a:solidFill>
                <a:latin typeface="Aptos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556248"/>
            <a:ext cx="11064240" cy="18288"/>
          </a:xfrm>
          <a:prstGeom prst="rect">
            <a:avLst/>
          </a:prstGeom>
          <a:solidFill>
            <a:srgbClr val="1832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imulator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09353"/>
            <a:ext cx="6309360" cy="491711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132320" y="1600200"/>
            <a:ext cx="4206240" cy="1371600"/>
          </a:xfrm>
          <a:prstGeom prst="roundRect">
            <a:avLst/>
          </a:prstGeom>
          <a:solidFill>
            <a:srgbClr val="18324E"/>
          </a:solidFill>
          <a:ln w="15240">
            <a:solidFill>
              <a:srgbClr val="D94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0" y="1746504"/>
            <a:ext cx="3840479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D94F4F"/>
                </a:solidFill>
                <a:latin typeface="Aptos"/>
              </a:rPr>
              <a:t>A — STOCK 100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2093976"/>
            <a:ext cx="3840479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F8FAFC"/>
                </a:solidFill>
                <a:latin typeface="Aptos"/>
              </a:rPr>
              <a:t>Kích hoạt oversell/race
1000 × 4 threads × 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3246120"/>
            <a:ext cx="4206240" cy="1371600"/>
          </a:xfrm>
          <a:prstGeom prst="roundRect">
            <a:avLst/>
          </a:prstGeom>
          <a:solidFill>
            <a:srgbClr val="18324E"/>
          </a:solidFill>
          <a:ln w="1524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0" y="3392424"/>
            <a:ext cx="3840479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A9D8F"/>
                </a:solidFill>
                <a:latin typeface="Aptos"/>
              </a:rPr>
              <a:t>B — STOCK 2000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3739896"/>
            <a:ext cx="3840479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F8FAFC"/>
                </a:solidFill>
                <a:latin typeface="Aptos"/>
              </a:rPr>
              <a:t>Đủ capacity, so TPS
1000 × 4 threads ×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5074920"/>
            <a:ext cx="40233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28C28"/>
                </a:solidFill>
                <a:latin typeface="Aptos"/>
              </a:rPr>
              <a:t>Raw CSV + Markdown + chart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F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80467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F28C28"/>
                </a:solidFill>
                <a:latin typeface="Aptos"/>
              </a:rPr>
              <a:t>LAB211 • NHÓM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8813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F8FAFC"/>
                </a:solidFill>
                <a:latin typeface="Aptos"/>
              </a:rPr>
              <a:t>Kết quả A — stock 100: tốc độ ảo vs tính đúng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47472"/>
            <a:ext cx="43891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B2BFCF"/>
                </a:solidFill>
                <a:latin typeface="Aptos"/>
              </a:rP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556248"/>
            <a:ext cx="11064240" cy="18288"/>
          </a:xfrm>
          <a:prstGeom prst="rect">
            <a:avLst/>
          </a:prstGeom>
          <a:solidFill>
            <a:srgbClr val="1832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hroughput_stock_1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54585"/>
            <a:ext cx="6720840" cy="329396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98079" y="1600200"/>
            <a:ext cx="1737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D94F4F"/>
                </a:solidFill>
                <a:latin typeface="Aptos"/>
              </a:rPr>
              <a:t>566.1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2103120"/>
            <a:ext cx="17373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B2BFCF"/>
                </a:solidFill>
                <a:latin typeface="Aptos"/>
              </a:rPr>
              <a:t>No Lock avg TPS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1600200"/>
            <a:ext cx="1737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D94F4F"/>
                </a:solidFill>
                <a:latin typeface="Aptos"/>
              </a:rPr>
              <a:t>3279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0" y="2103120"/>
            <a:ext cx="17373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B2BFCF"/>
                </a:solidFill>
                <a:latin typeface="Aptos"/>
              </a:rPr>
              <a:t>tổng âm kho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2880360"/>
            <a:ext cx="3657600" cy="1234440"/>
          </a:xfrm>
          <a:prstGeom prst="roundRect">
            <a:avLst/>
          </a:prstGeom>
          <a:solidFill>
            <a:srgbClr val="18324E"/>
          </a:solidFill>
          <a:ln w="1524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26679" y="3026664"/>
            <a:ext cx="32918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A9D8F"/>
                </a:solidFill>
                <a:latin typeface="Aptos"/>
              </a:rPr>
              <a:t>SAFE LOCKS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79" y="3374136"/>
            <a:ext cx="3291840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F8FAFC"/>
                </a:solidFill>
                <a:latin typeface="Aptos"/>
              </a:rPr>
              <a:t>FileLock / synchronized / optimistic
0 âm kho • 3/3 consistent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43800" y="4389120"/>
            <a:ext cx="3657600" cy="1097280"/>
          </a:xfrm>
          <a:prstGeom prst="roundRect">
            <a:avLst/>
          </a:prstGeom>
          <a:solidFill>
            <a:srgbClr val="18324E"/>
          </a:solidFill>
          <a:ln w="1524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4535424"/>
            <a:ext cx="32918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28C28"/>
                </a:solidFill>
                <a:latin typeface="Aptos"/>
              </a:rPr>
              <a:t>VERDICT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4882896"/>
            <a:ext cx="3291840" cy="4754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F8FAFC"/>
                </a:solidFill>
                <a:latin typeface="Aptos"/>
              </a:rPr>
              <a:t>Không cơ chế safe nào đạt ngưỡng TPS ở cả 3 run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F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80467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F28C28"/>
                </a:solidFill>
                <a:latin typeface="Aptos"/>
              </a:rPr>
              <a:t>LAB211 • NHÓM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8813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F8FAFC"/>
                </a:solidFill>
                <a:latin typeface="Aptos"/>
              </a:rPr>
              <a:t>Kết quả B — stock 2000: capacity công bằng hơn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47472"/>
            <a:ext cx="43891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B2BFCF"/>
                </a:solidFill>
                <a:latin typeface="Aptos"/>
              </a:rP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556248"/>
            <a:ext cx="11064240" cy="18288"/>
          </a:xfrm>
          <a:prstGeom prst="rect">
            <a:avLst/>
          </a:prstGeom>
          <a:solidFill>
            <a:srgbClr val="1832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hroughput_stock_2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31725"/>
            <a:ext cx="6720840" cy="329396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52360" y="1417320"/>
            <a:ext cx="1783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4391D6"/>
                </a:solidFill>
                <a:latin typeface="Aptos"/>
              </a:rPr>
              <a:t>284.5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1920240"/>
            <a:ext cx="17830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B2BFCF"/>
                </a:solidFill>
                <a:latin typeface="Aptos"/>
              </a:rPr>
              <a:t>FileLock avg TPS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72600" y="1417320"/>
            <a:ext cx="1783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2A9D8F"/>
                </a:solidFill>
                <a:latin typeface="Aptos"/>
              </a:rPr>
              <a:t>324.7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72600" y="1920240"/>
            <a:ext cx="17830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B2BFCF"/>
                </a:solidFill>
                <a:latin typeface="Aptos"/>
              </a:rPr>
              <a:t>sync avg TPS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2743200"/>
            <a:ext cx="3657600" cy="1234440"/>
          </a:xfrm>
          <a:prstGeom prst="roundRect">
            <a:avLst/>
          </a:prstGeom>
          <a:solidFill>
            <a:srgbClr val="18324E"/>
          </a:solidFill>
          <a:ln w="1524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59" y="2889504"/>
            <a:ext cx="32918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28C28"/>
                </a:solidFill>
                <a:latin typeface="Aptos"/>
              </a:rPr>
              <a:t>PAIRED TARGET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59" y="3236976"/>
            <a:ext cx="3291840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F8FAFC"/>
                </a:solidFill>
                <a:latin typeface="Aptos"/>
              </a:rPr>
              <a:t>FileLock: 2/3 run đạt
synchronized: 3/3 run đạt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79" y="4251960"/>
            <a:ext cx="3657600" cy="1051560"/>
          </a:xfrm>
          <a:prstGeom prst="roundRect">
            <a:avLst/>
          </a:prstGeom>
          <a:solidFill>
            <a:srgbClr val="18324E"/>
          </a:solidFill>
          <a:ln w="15240">
            <a:solidFill>
              <a:srgbClr val="D94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59" y="4398264"/>
            <a:ext cx="32918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D94F4F"/>
                </a:solidFill>
                <a:latin typeface="Aptos"/>
              </a:rPr>
              <a:t>OPTIMISTIC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59" y="4745736"/>
            <a:ext cx="3291840" cy="4297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F8FAFC"/>
                </a:solidFill>
                <a:latin typeface="Aptos"/>
              </a:rPr>
              <a:t>3.79 TPS • 8955 retries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F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80467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F28C28"/>
                </a:solidFill>
                <a:latin typeface="Aptos"/>
              </a:rPr>
              <a:t>LAB211 • NHÓM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8813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F8FAFC"/>
                </a:solidFill>
                <a:latin typeface="Aptos"/>
              </a:rPr>
              <a:t>Kết luận: chưa cơ chế nào đạt xuyên 2 kịch bản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47472"/>
            <a:ext cx="43891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B2BFCF"/>
                </a:solidFill>
                <a:latin typeface="Aptos"/>
              </a:rPr>
              <a:t>14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556248"/>
            <a:ext cx="11064240" cy="18288"/>
          </a:xfrm>
          <a:prstGeom prst="rect">
            <a:avLst/>
          </a:prstGeom>
          <a:solidFill>
            <a:srgbClr val="1832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27432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200" b="1">
                <a:solidFill>
                  <a:srgbClr val="D94F4F"/>
                </a:solidFill>
                <a:latin typeface="Aptos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48840"/>
            <a:ext cx="3108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B2BFCF"/>
                </a:solidFill>
                <a:latin typeface="Aptos"/>
              </a:rPr>
              <a:t>safe mechanisms đạt cả 2 kịch bản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1325880"/>
            <a:ext cx="7589520" cy="329184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8FAFC"/>
                </a:solidFill>
                <a:latin typeface="Aptos"/>
              </a:defRPr>
            </a:pPr>
            <a:r>
              <a:t>•  Không che giấu raw run và không chọn riêng kết quả đẹp.</a:t>
            </a:r>
          </a:p>
          <a:p>
            <a:pPr>
              <a:spcAft>
                <a:spcPts val="1000"/>
              </a:spcAft>
              <a:defRPr sz="1700">
                <a:solidFill>
                  <a:srgbClr val="F8FAFC"/>
                </a:solidFill>
                <a:latin typeface="Aptos"/>
              </a:defRPr>
            </a:pPr>
            <a:r>
              <a:t>•  Stock 2000: synchronized 3/3 run đạt; FileLock 2/3 run đạt.</a:t>
            </a:r>
          </a:p>
          <a:p>
            <a:pPr>
              <a:spcAft>
                <a:spcPts val="1000"/>
              </a:spcAft>
              <a:defRPr sz="1700">
                <a:solidFill>
                  <a:srgbClr val="F8FAFC"/>
                </a:solidFill>
                <a:latin typeface="Aptos"/>
              </a:defRPr>
            </a:pPr>
            <a:r>
              <a:t>•  Stock 100: cả ba cơ chế an toàn đều 0/3 run đạt ngưỡng TPS.</a:t>
            </a:r>
          </a:p>
          <a:p>
            <a:pPr>
              <a:spcAft>
                <a:spcPts val="1000"/>
              </a:spcAft>
              <a:defRPr sz="1700">
                <a:solidFill>
                  <a:srgbClr val="F8FAFC"/>
                </a:solidFill>
                <a:latin typeface="Aptos"/>
              </a:defRPr>
            </a:pPr>
            <a:r>
              <a:t>•  Optimistic max 3 retry không hợp contention cao trên CSV.</a:t>
            </a:r>
          </a:p>
          <a:p>
            <a:pPr>
              <a:spcAft>
                <a:spcPts val="1000"/>
              </a:spcAft>
              <a:defRPr sz="1700">
                <a:solidFill>
                  <a:srgbClr val="F8FAFC"/>
                </a:solidFill>
                <a:latin typeface="Aptos"/>
              </a:defRPr>
            </a:pPr>
            <a:r>
              <a:t>•  Chọn synchronized cho một JVM; FileLock khi cần phối hợp nhiều process.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94760" y="4800600"/>
            <a:ext cx="7315200" cy="960120"/>
          </a:xfrm>
          <a:prstGeom prst="roundRect">
            <a:avLst/>
          </a:prstGeom>
          <a:solidFill>
            <a:srgbClr val="18324E"/>
          </a:solidFill>
          <a:ln w="15240">
            <a:solidFill>
              <a:srgbClr val="439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77640" y="4946904"/>
            <a:ext cx="69494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4391D6"/>
                </a:solidFill>
                <a:latin typeface="Aptos"/>
              </a:rPr>
              <a:t>NGHIÊN CỨU TIẾP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7640" y="5294376"/>
            <a:ext cx="6949440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F8FAFC"/>
                </a:solidFill>
                <a:latin typeface="Aptos"/>
              </a:rPr>
              <a:t>Warm-up • nhiều run • p95 latency • database thật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F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80467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F28C28"/>
                </a:solidFill>
                <a:latin typeface="Aptos"/>
              </a:rPr>
              <a:t>LAB211 • NHÓM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8813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F8FAFC"/>
                </a:solidFill>
                <a:latin typeface="Aptos"/>
              </a:rPr>
              <a:t>Quality gate, bảo mật và portability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47472"/>
            <a:ext cx="43891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B2BFCF"/>
                </a:solidFill>
                <a:latin typeface="Aptos"/>
              </a:rP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556248"/>
            <a:ext cx="11064240" cy="18288"/>
          </a:xfrm>
          <a:prstGeom prst="rect">
            <a:avLst/>
          </a:prstGeom>
          <a:solidFill>
            <a:srgbClr val="1832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2194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2A9D8F"/>
                </a:solidFill>
                <a:latin typeface="Aptos"/>
              </a:rPr>
              <a:t>226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20240"/>
            <a:ext cx="21945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B2BFCF"/>
                </a:solidFill>
                <a:latin typeface="Aptos"/>
              </a:rPr>
              <a:t>JUnit tests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1417320"/>
            <a:ext cx="2194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2A9D8F"/>
                </a:solidFill>
                <a:latin typeface="Aptos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1920240"/>
            <a:ext cx="21945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B2BFCF"/>
                </a:solidFill>
                <a:latin typeface="Aptos"/>
              </a:rPr>
              <a:t>failure / error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57800" y="1417320"/>
            <a:ext cx="2194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4391D6"/>
                </a:solidFill>
                <a:latin typeface="Aptos"/>
              </a:rPr>
              <a:t>Java 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57800" y="1920240"/>
            <a:ext cx="21945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B2BFCF"/>
                </a:solidFill>
                <a:latin typeface="Aptos"/>
              </a:rPr>
              <a:t>fat JAR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1417320"/>
            <a:ext cx="2194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28C28"/>
                </a:solidFill>
                <a:latin typeface="Aptos"/>
              </a:rPr>
              <a:t>UTF-8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1920240"/>
            <a:ext cx="21945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B2BFCF"/>
                </a:solidFill>
                <a:latin typeface="Aptos"/>
              </a:rPr>
              <a:t>no BOM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154680"/>
            <a:ext cx="10424160" cy="224028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8FAFC"/>
                </a:solidFill>
                <a:latin typeface="Aptos"/>
              </a:defRPr>
            </a:pPr>
            <a:r>
              <a:t>•  Concurrent last-stock + FIFO/priority + multi-role Customer/Admin</a:t>
            </a:r>
          </a:p>
          <a:p>
            <a:pPr>
              <a:spcAft>
                <a:spcPts val="1000"/>
              </a:spcAft>
              <a:defRPr sz="1700">
                <a:solidFill>
                  <a:srgbClr val="F8FAFC"/>
                </a:solidFill>
                <a:latin typeface="Aptos"/>
              </a:defRPr>
            </a:pPr>
            <a:r>
              <a:t>•  Argon2id; admin secrets qua environment; không hardcode password</a:t>
            </a:r>
          </a:p>
          <a:p>
            <a:pPr>
              <a:spcAft>
                <a:spcPts val="1000"/>
              </a:spcAft>
              <a:defRPr sz="1700">
                <a:solidFill>
                  <a:srgbClr val="F8FAFC"/>
                </a:solidFill>
                <a:latin typeface="Aptos"/>
              </a:defRPr>
            </a:pPr>
            <a:r>
              <a:t>•  Generate → CustomerRepository round-trip → service boot</a:t>
            </a:r>
          </a:p>
          <a:p>
            <a:pPr>
              <a:spcAft>
                <a:spcPts val="1000"/>
              </a:spcAft>
              <a:defRPr sz="1700">
                <a:solidFill>
                  <a:srgbClr val="F8FAFC"/>
                </a:solidFill>
                <a:latin typeface="Aptos"/>
              </a:defRPr>
            </a:pPr>
            <a:r>
              <a:t>•  Đường dẫn tương đối; Maven build; EOF smoke không treo process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F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80467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F28C28"/>
                </a:solidFill>
                <a:latin typeface="Aptos"/>
              </a:rPr>
              <a:t>LAB211 • NHÓM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8813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F8FAFC"/>
                </a:solidFill>
                <a:latin typeface="Aptos"/>
              </a:rPr>
              <a:t>Bàn giao: chạy được, đo được, truy vết được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47472"/>
            <a:ext cx="43891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B2BFCF"/>
                </a:solidFill>
                <a:latin typeface="Aptos"/>
              </a:rPr>
              <a:t>16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556248"/>
            <a:ext cx="11064240" cy="18288"/>
          </a:xfrm>
          <a:prstGeom prst="rect">
            <a:avLst/>
          </a:prstGeom>
          <a:solidFill>
            <a:srgbClr val="1832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3246120" cy="1417320"/>
          </a:xfrm>
          <a:prstGeom prst="roundRect">
            <a:avLst/>
          </a:prstGeom>
          <a:solidFill>
            <a:srgbClr val="18324E"/>
          </a:solidFill>
          <a:ln w="15240">
            <a:solidFill>
              <a:srgbClr val="439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63624"/>
            <a:ext cx="28803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4391D6"/>
                </a:solidFill>
                <a:latin typeface="Aptos"/>
              </a:rPr>
              <a:t>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11095"/>
            <a:ext cx="2880360" cy="795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F8FAFC"/>
                </a:solidFill>
                <a:latin typeface="Aptos"/>
              </a:rPr>
              <a:t>src + test + pom
MVC • OOP • security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417320"/>
            <a:ext cx="3246120" cy="1417320"/>
          </a:xfrm>
          <a:prstGeom prst="roundRect">
            <a:avLst/>
          </a:prstGeom>
          <a:solidFill>
            <a:srgbClr val="18324E"/>
          </a:solidFill>
          <a:ln w="1524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563624"/>
            <a:ext cx="28803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A9D8F"/>
                </a:solidFill>
                <a:latin typeface="Aptos"/>
              </a:rPr>
              <a:t>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1911095"/>
            <a:ext cx="2880360" cy="795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F8FAFC"/>
                </a:solidFill>
                <a:latin typeface="Aptos"/>
              </a:rPr>
              <a:t>CSV raw + Markdown
chart + 6 diagrams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417320"/>
            <a:ext cx="3246120" cy="1417320"/>
          </a:xfrm>
          <a:prstGeom prst="roundRect">
            <a:avLst/>
          </a:prstGeom>
          <a:solidFill>
            <a:srgbClr val="18324E"/>
          </a:solidFill>
          <a:ln w="1524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563624"/>
            <a:ext cx="28803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28C28"/>
                </a:solidFill>
                <a:latin typeface="Aptos"/>
              </a:rPr>
              <a:t>DELIVERABLE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1911095"/>
            <a:ext cx="2880360" cy="795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F8FAFC"/>
                </a:solidFill>
                <a:latin typeface="Aptos"/>
              </a:rPr>
              <a:t>report.docx + slide.pptx
README + ZIP sạch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429000"/>
            <a:ext cx="2743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28C28"/>
                </a:solidFill>
                <a:latin typeface="Aptos"/>
              </a:rPr>
              <a:t>DEMO 3 LỆNH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840480"/>
            <a:ext cx="10424160" cy="150876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8FAFC"/>
                </a:solidFill>
                <a:latin typeface="Aptos"/>
              </a:defRPr>
            </a:pPr>
            <a:r>
              <a:t>•  mvn clean verify</a:t>
            </a:r>
          </a:p>
          <a:p>
            <a:pPr>
              <a:spcAft>
                <a:spcPts val="1000"/>
              </a:spcAft>
              <a:defRPr sz="1700">
                <a:solidFill>
                  <a:srgbClr val="F8FAFC"/>
                </a:solidFill>
                <a:latin typeface="Aptos"/>
              </a:defRPr>
            </a:pPr>
            <a:r>
              <a:t>•  java -jar target/flash-sale-simulator.jar --benchmark-report</a:t>
            </a:r>
          </a:p>
          <a:p>
            <a:pPr>
              <a:spcAft>
                <a:spcPts val="1000"/>
              </a:spcAft>
              <a:defRPr sz="1700">
                <a:solidFill>
                  <a:srgbClr val="F8FAFC"/>
                </a:solidFill>
                <a:latin typeface="Aptos"/>
              </a:defRPr>
            </a:pPr>
            <a:r>
              <a:t>•  java -jar target/flash-sale-simulator.jar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760720"/>
            <a:ext cx="10424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B2BFCF"/>
                </a:solidFill>
                <a:latin typeface="Aptos"/>
              </a:rPr>
              <a:t>AI audit log: nhóm ghép bản đã có trước khi nộp.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LAB211 Flash Sale Simulator</dc:title>
  <dc:subject/>
  <dc:creator>Nhóm 01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