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latin typeface="Arial"/>
              </a:defRPr>
            </a:pPr>
            <a:r>
              <a:t>BÁO CÁO THUYẾT TRÌNH ĐỒ ÁN LAB211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latin typeface="Arial"/>
              </a:defRPr>
            </a:pPr>
            <a:r>
              <a:t>ĐỀ TÀI: MÔ PHỎNG SHOPEE FLASH SALE CONSOLE APP</a:t>
            </a:r>
          </a:p>
          <a:p>
            <a:pPr>
              <a:defRPr>
                <a:latin typeface="Arial"/>
              </a:defRPr>
            </a:pPr>
            <a:r>
              <a:t>NHÓM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latin typeface="Arial"/>
              </a:defRPr>
            </a:pPr>
            <a:r>
              <a:t>1. THÀNH VIÊN VÀ PHÂN CÔNG NHIỆM VỤ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Thành viên 1:</a:t>
            </a:r>
            <a:r>
              <a:rPr sz="1800">
                <a:latin typeface="Arial"/>
              </a:rPr>
              <a:t> Hạ tầng OOP, Lớp cha `BaseEntity`, Generic `CsvRepository&lt;T&gt;`, và `DataGeneratorService`.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Thành viên 2:</a:t>
            </a:r>
            <a:r>
              <a:rPr sz="1800">
                <a:latin typeface="Arial"/>
              </a:rPr>
              <a:t> Thực thể `Customer`, Phân quyền, CRUD &amp; Ban/Unban tài khoản trên CSV, và cơ chế `FILE_LOCK`.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Thành viên 3:</a:t>
            </a:r>
            <a:r>
              <a:rPr sz="1800">
                <a:latin typeface="Arial"/>
              </a:rPr>
              <a:t> Thực thể `FlashSaleItem`, Logic đặt hàng (Voucher, VIP Tier, check tồn kho), và cơ chế `SYNCHRONIZED`.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Thành viên 4:</a:t>
            </a:r>
            <a:r>
              <a:rPr sz="1800">
                <a:latin typeface="Arial"/>
              </a:rPr>
              <a:t> Thực thể `Order`, Simulator đa luồng song song (`CountDownLatch`), và cơ chế `OPTIMISTIC_LOCK`.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latin typeface="Arial"/>
              </a:defRPr>
            </a:pPr>
            <a:r>
              <a:t>2. KIẾN TRÚC MÔ HÌNH MVC TRONG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Model:</a:t>
            </a:r>
            <a:r>
              <a:rPr sz="1800">
                <a:latin typeface="Arial"/>
              </a:rPr>
              <a:t> Đóng gói dữ liệu thực thể, chịu trách nhiệm parse/serialize dòng CSV.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Repository:</a:t>
            </a:r>
            <a:r>
              <a:rPr sz="1800">
                <a:latin typeface="Arial"/>
              </a:rPr>
              <a:t> Giao tiếp trực tiếp với file CSV. Sử dụng Java Reflection trong Generic Repository để tránh viết lặp code CRUD.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Service:</a:t>
            </a:r>
            <a:r>
              <a:rPr sz="1800">
                <a:latin typeface="Arial"/>
              </a:rPr>
              <a:t> Xử lý nghiệp vụ (Đặt hàng, tính chiết khấu VIP Tier, trừ kho, chạy Simulator).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Controller:</a:t>
            </a:r>
            <a:r>
              <a:rPr sz="1800">
                <a:latin typeface="Arial"/>
              </a:rPr>
              <a:t> Điều phối dữ liệu từ View xuống Service/Repository.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View:</a:t>
            </a:r>
            <a:r>
              <a:rPr sz="1800">
                <a:latin typeface="Arial"/>
              </a:rPr>
              <a:t> Console Interface hiển thị menu và nhận nhập liệu từ người dùng.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latin typeface="Arial"/>
              </a:defRPr>
            </a:pPr>
            <a:r>
              <a:t>3. NGHIỆP VỤ KHÁCH HÀNG NÂNG CAO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Đăng nhập &amp; Đăng ký:</a:t>
            </a:r>
            <a:r>
              <a:rPr sz="1800">
                <a:latin typeface="Arial"/>
              </a:rPr>
              <a:t> Đọc/ghi thông tin trực tiếp từ `customers.csv`.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Hạng thành viên (Tier):</a:t>
            </a:r>
            <a:r>
              <a:rPr sz="1800">
                <a:latin typeface="Arial"/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`STANDARD` (0%), `SILVER` (giảm 2%), `GOLD` (giảm 5%), `DIAMOND` (giảm 10%).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Tự động áp dụng chiết khấu trực tiếp trên tổng tiền trước khi trừ Voucher.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Trạng thái tài khoản (Status):</a:t>
            </a:r>
            <a:r>
              <a:rPr sz="1800">
                <a:latin typeface="Arial"/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`ACTIVE` (Bình thường), `BANNED` (Bị khóa).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Tài khoản bị `BANNED` sẽ lập tức bị chặn không cho đăng nhập và đặt hàng.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Admin có Menu quản lý riêng để thực hiện CRUD và Ban/Unban khách hàng trực tiếp.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latin typeface="Arial"/>
              </a:defRPr>
            </a:pPr>
            <a:r>
              <a:t>4. BÀI TOÁN TRANH CHẤP KHO (CONCURRENCY)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Vấn đề:</a:t>
            </a:r>
            <a:r>
              <a:rPr sz="1800">
                <a:latin typeface="Arial"/>
              </a:rPr>
              <a:t> 100 khách hàng cùng mua 1 sản phẩm còn lại duy nhất tại cùng một mili-giây.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NO_LOCK (Baseline):</a:t>
            </a:r>
            <a:r>
              <a:rPr sz="1800">
                <a:latin typeface="Arial"/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Không khóa tài nguyên tranh chấp.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Nhiều luồng đọc cùng một giá trị kho cũ → cùng thấy còn hàng → cùng ghi đè trừ kho.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Hậu quả:</a:t>
            </a:r>
            <a:r>
              <a:rPr sz="1800">
                <a:latin typeface="Arial"/>
              </a:rPr>
              <a:t> Bán lố hàng, số lượng tồn kho bị âm (Negative Stock).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latin typeface="Arial"/>
              </a:defRPr>
            </a:pPr>
            <a:r>
              <a:t>5. CƠ CHẾ 1: OS-LEVEL LOCK (FILE_LOCK)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Cách thức hoạt động:</a:t>
            </a:r>
            <a:r>
              <a:rPr sz="1800">
                <a:latin typeface="Arial"/>
              </a:rPr>
              <a:t> Sử dụng `FileChannel.lock()` của Java NIO để khóa vật lý file `flash_items.csv` mức hệ điều hành.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Ưu điểm:</a:t>
            </a:r>
            <a:r>
              <a:rPr sz="1800">
                <a:latin typeface="Arial"/>
              </a:rPr>
              <a:t> An toàn tuyệt đối 100%, không bị âm kho.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Nhược điểm:</a:t>
            </a:r>
            <a:r>
              <a:rPr sz="1800">
                <a:latin typeface="Arial"/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Hiệu năng TPS cực kỳ thấp (I/O đĩa cứng chặn các thread phải chờ tuần tự).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Dễ gây nghẽn và deadlock nếu không giải phóng khóa cẩn thận trong khối `finally`.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latin typeface="Arial"/>
              </a:defRPr>
            </a:pPr>
            <a:r>
              <a:t>6. CƠ CHẾ 2: JVM-LEVEL MONITOR LOCK (SYNCHRONIZED)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Cách thức hoạt động:</a:t>
            </a:r>
            <a:r>
              <a:rPr sz="1800">
                <a:latin typeface="Arial"/>
              </a:rPr>
              <a:t> Sử dụng từ khóa `synchronized` của Java để đồng bộ hóa.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Tối ưu hóa (Block-level Interning):</a:t>
            </a:r>
            <a:r>
              <a:rPr sz="1800">
                <a:latin typeface="Arial"/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Chỉ synchronized trên đối tượng khóa là chuỗi định danh sản phẩm: `synchronized (itemId.intern())`.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Tránh khóa toàn bộ hàm (gây nghẽn cả hệ thống). Chỉ các giao dịch mua </a:t>
            </a:r>
            <a:r>
              <a:rPr b="1" sz="1800">
                <a:latin typeface="Arial"/>
              </a:rPr>
              <a:t>cùng một sản phẩm</a:t>
            </a:r>
            <a:r>
              <a:rPr sz="1800">
                <a:latin typeface="Arial"/>
              </a:rPr>
              <a:t> mới phải xếp hàng đợi nhau.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Đánh giá:</a:t>
            </a:r>
            <a:r>
              <a:rPr sz="1800">
                <a:latin typeface="Arial"/>
              </a:rPr>
              <a:t> Hiệu năng tốt trên môi trường đơn máy chủ (Single JVM).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latin typeface="Arial"/>
              </a:defRPr>
            </a:pPr>
            <a:r>
              <a:t>7. CƠ CHẾ 3: LOGICAL LOCK (OPTIMISTIC_LOCK)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Cách thức hoạt động:</a:t>
            </a:r>
            <a:r>
              <a:rPr sz="1800">
                <a:latin typeface="Arial"/>
              </a:rPr>
              <a:t> Khóa lạc quan không chặn luồng, hoạt động dựa trên thuộc tính `version`.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Luồng xử lý:</a:t>
            </a:r>
            <a:r>
              <a:rPr sz="1800">
                <a:latin typeface="Arial"/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1. Đọc sản phẩm kèm `version = X`.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2. Khi ghi đè xuống CSV, kiểm tra xem `version` trong tệp có còn bằng `X`.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3. Nếu khớp: Cập nhật thành công, lưu `version = X + 1`.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4. Nếu lệch (có luồng khác đã cập nhật trước): Báo lỗi conflict → Thực hiện đọc lại dữ liệu mới và chạy lại (Retry Loop) tối đa 3 lần.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Đánh giá:</a:t>
            </a:r>
            <a:r>
              <a:rPr sz="1800">
                <a:latin typeface="Arial"/>
              </a:rPr>
              <a:t> Throughput (TPS) cao nhất, thích hợp cho hệ thống lớn.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latin typeface="Arial"/>
              </a:defRPr>
            </a:pPr>
            <a:r>
              <a:t>8. THIẾT KẾ ĐỘNG CƠ GIẢ LẬP (SIMULATOR)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ExecutorService (Thread Pool):</a:t>
            </a:r>
            <a:r>
              <a:rPr sz="1800">
                <a:latin typeface="Arial"/>
              </a:rPr>
              <a:t> Khởi chạy `N` luồng giả lập `N` khách hàng mua hàng đồng thời.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Đồng bộ hóa bằng CountDownLatch:</a:t>
            </a:r>
            <a:r>
              <a:rPr sz="1800">
                <a:latin typeface="Arial"/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`readyLatch`: Đợi toàn bộ các thread chuẩn bị xong ở vạch xuất phát.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`startLatch`: Kích nổ đồng thời các thread cùng đặt hàng tại một mili-giây.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`doneLatch`: Đợi toàn bộ thread hoàn thành để tính thời gian chạy và TPS.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latin typeface="Arial"/>
              </a:defRPr>
            </a:pPr>
            <a:r>
              <a:t>9. KẾT QUẢ THỰC NGHIỆM (BENCHMARK)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*Cấu hình thử nghiệm: 500 Threads đồng thời, 100 sản phẩm.*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NO_LOCK:</a:t>
            </a:r>
            <a:r>
              <a:rPr sz="1800">
                <a:latin typeface="Arial"/>
              </a:rPr>
              <a:t> TPS rất cao (~500), nhưng tỷ lệ âm kho lên tới </a:t>
            </a:r>
            <a:r>
              <a:rPr b="1" sz="1800">
                <a:latin typeface="Arial"/>
              </a:rPr>
              <a:t>147%</a:t>
            </a:r>
            <a:r>
              <a:rPr sz="1800">
                <a:latin typeface="Arial"/>
              </a:rPr>
              <a:t> (Thất bại).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FILE_LOCK:</a:t>
            </a:r>
            <a:r>
              <a:rPr sz="1800">
                <a:latin typeface="Arial"/>
              </a:rPr>
              <a:t> 0% âm kho, nhưng TPS cực thấp (~12) do nghẽn I/O đĩa cứng.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SYNCHRONIZED (Block-level):</a:t>
            </a:r>
            <a:r>
              <a:rPr sz="1800">
                <a:latin typeface="Arial"/>
              </a:rPr>
              <a:t> 0% âm kho, TPS khá tốt (~85), chạy ổn định.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/>
            </a:r>
            <a:r>
              <a:rPr b="1" sz="1800">
                <a:latin typeface="Arial"/>
              </a:rPr>
              <a:t>OPTIMISTIC_LOCK:</a:t>
            </a:r>
            <a:r>
              <a:rPr sz="1800">
                <a:latin typeface="Arial"/>
              </a:rPr>
              <a:t> 0% âm kho, TPS cao nhất (~210) nhờ cơ chế không block và retry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latin typeface="Arial"/>
              </a:defRPr>
            </a:pPr>
            <a:r>
              <a:t>10. BÀI HỌC RÚT RA TỪ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1. Thiết kế MVC và OOP giúp quản lý mã nguồn chặt chẽ, dễ phân công công việc.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2. Hiểu rõ sự khác biệt giữa khóa vật lý (I/O) và khóa bộ nhớ (JVM) trong môi trường Concurrency.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3. Khóa lạc quan (Optimistic Lock) là lựa chọn tối ưu cho hiệu năng nhưng đòi hỏi phải thiết kế cơ chế retry hợp lý.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4. Tận dụng AI để sinh mã khung nhanh chóng nhưng phải tự kiểm soát kiến trúc và logic đồng bộ hóa cốt lõi.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